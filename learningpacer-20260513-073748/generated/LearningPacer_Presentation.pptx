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-2743200"/>
            <a:ext cx="7315200" cy="731520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657600"/>
            <a:ext cx="6400800" cy="64008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58968" y="1417320"/>
            <a:ext cx="1280160" cy="128016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58968" y="14173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</a:rPr>
              <a:t>🎓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0" y="292608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-200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LearningPacer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0" y="40233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AI Tutor for ELEC3120 Computer Networks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0" y="45720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· Lecture-grounded · 繁體中文 · Built for HKUST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5852160"/>
            <a:ext cx="210312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03504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April 2026  ·  HKUST Department of ECE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11821"/>
          </a:solidFill>
          <a:ln w="12700">
            <a:solidFill>
              <a:srgbClr val="1118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005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05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" y="91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LearningPacer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91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ELEC3120 · HKUST · Apr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a virtual TA?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18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945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85800" y="30632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per ELEC3120 cohort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210312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1945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520440" y="30632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office-hour slots per week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10312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1945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355080" y="30632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lecture decks, 600+ slides total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0" y="210312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0" y="21945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24/7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9189720" y="30632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students actually study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 cannot scale. Static slides cannot answer back.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71600" y="480060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study at 2 a.m., before the exam, in Cantonese, in English, in panic.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deserve a tutor who is awake, patient, and grounded in our actual lecture notes.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11821"/>
          </a:solidFill>
          <a:ln w="12700">
            <a:solidFill>
              <a:srgbClr val="1118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005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05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" y="91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LearningPacer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91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ELEC3120 · HKUST · Apr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THE PRODUCT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 LearningPacer.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patient AI teaching assistant that lives inside your browser, speaks 繁體中文, and never gets tired.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3611880" cy="2651760"/>
          </a:xfrm>
          <a:prstGeom prst="roundRect">
            <a:avLst>
              <a:gd name="adj" fmla="val 5517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24612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" y="39776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Conversational tutor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44348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anything in 繁中 or English. Answers cite your lecture deck.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3017520"/>
            <a:ext cx="3611880" cy="2651760"/>
          </a:xfrm>
          <a:prstGeom prst="roundRect">
            <a:avLst>
              <a:gd name="adj" fmla="val 5517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324612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63440" y="39776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Adaptive practice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63440" y="44348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500+ quiz questions, flashcards, Pomodoro — all inside the same app.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0" y="3017520"/>
            <a:ext cx="3611880" cy="2651760"/>
          </a:xfrm>
          <a:prstGeom prst="roundRect">
            <a:avLst>
              <a:gd name="adj" fmla="val 5517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03920" y="324612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503920" y="39776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Exam-focused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503920" y="44348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streaks, exam countdown, weak-topic insights, structured study plan.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in 3 weeks · Now serving real students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11821"/>
          </a:solidFill>
          <a:ln w="12700">
            <a:solidFill>
              <a:srgbClr val="1118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005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05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" y="91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LearningPacer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91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ELEC3120 · HKUST · Apr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MODES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inbox. Three minds.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11064240" cy="1234440"/>
          </a:xfrm>
          <a:prstGeom prst="roundRect">
            <a:avLst>
              <a:gd name="adj" fmla="val 10370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167128"/>
            <a:ext cx="1463040" cy="7315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16712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Tutor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0" y="2084832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Qwen3-235B Thinking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246888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"Explain TCP three-way handshake in 繁中"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11064240" cy="1234440"/>
          </a:xfrm>
          <a:prstGeom prst="roundRect">
            <a:avLst>
              <a:gd name="adj" fmla="val 10370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84448"/>
            <a:ext cx="1463040" cy="73152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5844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68880" y="3502152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Qwen3-Coder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68880" y="388620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"Write a Python TCP echo server with select()"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11064240" cy="1234440"/>
          </a:xfrm>
          <a:prstGeom prst="roundRect">
            <a:avLst>
              <a:gd name="adj" fmla="val 10370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001768"/>
            <a:ext cx="1463040" cy="7315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00176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468880" y="4919472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Seedream 4.5 / VL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68880" y="530352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"Draw a router topology" / "What is in this lecture slide?"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Routed automatically based on your tab — no prompt engineering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11821"/>
          </a:solidFill>
          <a:ln w="12700">
            <a:solidFill>
              <a:srgbClr val="1118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005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05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" y="91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LearningPacer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91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ELEC3120 · HKUST · Apr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KNOWLEDGE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Grounded in your lecture notes.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Lecture corpus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011680" y="23774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lecture PDFs ingested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971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600+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011680" y="30175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slides parsed &amp; chunked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611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011680" y="36576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topics: Web → BGP → Wireless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251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310+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011680" y="4297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auto-generated quiz items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 pipeline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83680" y="2331720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242316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23760" y="233172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question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0" y="2971800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0" y="306324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23760" y="29718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 (sqlite-vss)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83680" y="3611880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0" y="370332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23760" y="36118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Top-k retrieve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83680" y="4251960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434340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4343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23760" y="42519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Re-rank by topic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583680" y="4892040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66560" y="498348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6560" y="4983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23760" y="489204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 &amp; answer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the model doesn't know, it says so — instead of inventing TCP states that don't exist.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11821"/>
          </a:solidFill>
          <a:ln w="12700">
            <a:solidFill>
              <a:srgbClr val="1118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005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05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" y="91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LearningPacer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91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ELEC3120 · HKUST · Apr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SYSTEM DESIGN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at a glance.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2194560" cy="868680"/>
          </a:xfrm>
          <a:prstGeom prst="roundRect">
            <a:avLst>
              <a:gd name="adj" fmla="val 1052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288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26080" y="1828800"/>
            <a:ext cx="8686800" cy="868680"/>
          </a:xfrm>
          <a:prstGeom prst="roundRect">
            <a:avLst>
              <a:gd name="adj" fmla="val 10526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182880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Next.js 16 App Router   ·   React 19 + Tailwind v4   ·   shadcn/ui · Web Speech TTS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2194560" cy="868680"/>
          </a:xfrm>
          <a:prstGeom prst="roundRect">
            <a:avLst>
              <a:gd name="adj" fmla="val 1052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8036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/ API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26080" y="2880360"/>
            <a:ext cx="8686800" cy="868680"/>
          </a:xfrm>
          <a:prstGeom prst="roundRect">
            <a:avLst>
              <a:gd name="adj" fmla="val 10526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288036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Streaming SSE chat   ·   AbortController stop   ·   Single-flight guard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2194560" cy="868680"/>
          </a:xfrm>
          <a:prstGeom prst="roundRect">
            <a:avLst>
              <a:gd name="adj" fmla="val 1052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3192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Models (OpenRouter)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926080" y="3931920"/>
            <a:ext cx="8686800" cy="868680"/>
          </a:xfrm>
          <a:prstGeom prst="roundRect">
            <a:avLst>
              <a:gd name="adj" fmla="val 10526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393192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qwen3-235b-thinking · Tutor   ·   qwen3-coder · Code   ·   qwen3-vl · Vision  ·  seedream-4.5 · Image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983480"/>
            <a:ext cx="2194560" cy="868680"/>
          </a:xfrm>
          <a:prstGeom prst="roundRect">
            <a:avLst>
              <a:gd name="adj" fmla="val 1052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98348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926080" y="4983480"/>
            <a:ext cx="8686800" cy="868680"/>
          </a:xfrm>
          <a:prstGeom prst="roundRect">
            <a:avLst>
              <a:gd name="adj" fmla="val 10526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498348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Prisma + SQLite (file:./db/custom.db)   ·   sqlite-vss embeddings   ·   Conversation history &amp; streaks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Region-locked? OpenRouter abstracts away OpenAI/Anthropic/Google access.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11821"/>
          </a:solidFill>
          <a:ln w="12700">
            <a:solidFill>
              <a:srgbClr val="1118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005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05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" y="91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LearningPacer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91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ELEC3120 · HKUST · Apr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MODEL CHOICES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OpenRouter — and why these models.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01168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 resilience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51460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Hong Kong networks block direct OpenAI / Anthropic / Google endpoints. OpenRouter is a single egress that always works.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01168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Per-task routing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51460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Tutor uses a thinking model. Code uses a code model. Vision uses VL. Image uses a diffusion model. One API key, four brains.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11480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Throughput-first provider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61772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request includes provider:{sort:"throughput"} so students never wait 20s for a token.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11480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Effort knob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461772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reasoning:{effort:"low"} keeps cost ≈ ¢0.3 / answer while preserving the chain-of-thought behaviour.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11821"/>
          </a:solidFill>
          <a:ln w="12700">
            <a:solidFill>
              <a:srgbClr val="1118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005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05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" y="91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LearningPacer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91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ELEC3120 · HKUST · Apr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· PEDAGOGY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teacher, not a search engine.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prompt is engineered around four principles: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46304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97680" y="24231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says "obviously". Always offers a worked example before formula.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1106424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461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46304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297680" y="32918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Cites the lecture and slide number when the answer comes from the deck.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1106424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11480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463040" y="4069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Honest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297680" y="41605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Says "I am not sure — let me check the slides" instead of hallucinating.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1106424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98348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463040" y="4937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297680" y="50292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Defaults to 繁體中文 (HK) but mirrors the language the student writes in.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760720"/>
            <a:ext cx="1106424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11821"/>
          </a:solidFill>
          <a:ln w="12700">
            <a:solidFill>
              <a:srgbClr val="1118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005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05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" y="91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LearningPacer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91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ELEC3120 · HKUST · Apr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· VOICE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speaks Cantonese. Properly.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TTS engines collapse on mixed Chinese / English input.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split the script before synthesizing.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26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"TCP 三次握手 (three-way handshake) 第一步係 SYN packet"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383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↓  splitByScript()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749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zh-HK (HiuMaan) → "TCP 三次握手"     ·     en-US (Aria) → "three-way handshake"     ·     zh-HK → "第一步係 SYN packet"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5262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 natural Cantonese pronunciation for Chinese characters and proper English diction for technical terms — in the same sentence.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in-browser via Web Speech API — zero server cost, zero data leakage.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11821"/>
          </a:solidFill>
          <a:ln w="12700">
            <a:solidFill>
              <a:srgbClr val="1118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005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05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" y="91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LearningPacer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91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ELEC3120 · HKUST · Apr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· PRACTICE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Studying ≠ chatting. So we built the rest.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3611880" cy="1874520"/>
          </a:xfrm>
          <a:prstGeom prst="roundRect">
            <a:avLst>
              <a:gd name="adj" fmla="val 6829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50876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Quizzes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28346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310+ MCQ &amp; short-answer items, auto-generated from the deck. Instant explain-after-submit.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1920240"/>
            <a:ext cx="3611880" cy="1874520"/>
          </a:xfrm>
          <a:prstGeom prst="roundRect">
            <a:avLst>
              <a:gd name="adj" fmla="val 6829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34924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Flashcards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63440" y="28346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Spaced-repetition (SM-2). One concept per card. Cards age into your daily queue.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0" y="1920240"/>
            <a:ext cx="3611880" cy="1874520"/>
          </a:xfrm>
          <a:prstGeom prst="roundRect">
            <a:avLst>
              <a:gd name="adj" fmla="val 6829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18972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Pomodoro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503920" y="28346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Floating timer that survives navigation. Counts toward your daily 30-minute goal.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3611880" cy="1874520"/>
          </a:xfrm>
          <a:prstGeom prst="roundRect">
            <a:avLst>
              <a:gd name="adj" fmla="val 6829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251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508760" y="4297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2960" y="49377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GitHub-style heat-map of study days. Weak-topic insights. Streak counter.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89120" y="4023360"/>
            <a:ext cx="3611880" cy="1874520"/>
          </a:xfrm>
          <a:prstGeom prst="roundRect">
            <a:avLst>
              <a:gd name="adj" fmla="val 6829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4251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349240" y="4297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663440" y="49377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Auto-generates a study plan from now to your exam date. Re-balances daily.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0" y="4023360"/>
            <a:ext cx="3611880" cy="1874520"/>
          </a:xfrm>
          <a:prstGeom prst="roundRect">
            <a:avLst>
              <a:gd name="adj" fmla="val 6829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4251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9189720" y="4297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Glossary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503920" y="49377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Net-Tools, Formula sheets, RFC links. Zero-click reference while you study.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11821"/>
          </a:solidFill>
          <a:ln w="12700">
            <a:solidFill>
              <a:srgbClr val="1118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005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05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" y="91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LearningPacer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91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ELEC3120 · HKUST · Apr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· TRUST &amp; SAFETY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by default.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SQLite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194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Conversations live in db/custom.db on the deployment, not in any third-party cloud.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34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PII to LLM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3063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your message text + retrieved lecture chunks are sent to OpenRouter. No name, no student ID.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566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own your history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3931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Delete-conversation and clear-all are first-class buttons, not buried in settings.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572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4434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Disclaimer always visible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51560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"AI may produce inaccurate information" sits under every input — explicit, not hidden.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44068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440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5303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exam-question leaks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51560" y="5669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prompt forbids generating answers that look like a homework solution. Hints, not solutions.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11821"/>
          </a:solidFill>
          <a:ln w="12700">
            <a:solidFill>
              <a:srgbClr val="1118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005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05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" y="91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LearningPacer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91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ELEC3120 · HKUST · Apr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· ENGINEERING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on a small, sharp stack.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3774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 Next.js 16 (App Router)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6700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 React 19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96265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 Tailwind CSS v4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325526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 shadcn/ui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5478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 Web Speech API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82880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37960" y="23774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 Next.js API routes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26700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 Streaming SSE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296265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 Prisma 6 ORM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37960" y="325526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 SQLite + sqlite-vss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35478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 AbortController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251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providers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46634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 OpenRouter (gateway)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49560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 Qwen3-235B (tutor)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524865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 Qwen3-Coder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554126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 Qwen3-VL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" y="58338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 Seedream 4.5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411480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4251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37960" y="46634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 Replit Deployments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37960" y="49560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 Replit Auth (planned)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37960" y="524865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 GitHub repo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537960" y="554126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 Bun runtime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37960" y="58338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 TypeScript strict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11821"/>
          </a:solidFill>
          <a:ln w="12700">
            <a:solidFill>
              <a:srgbClr val="1118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005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05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" y="91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LearningPacer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91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ELEC3120 · HKUST · Apr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· DEMO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 — what you'll see.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18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Cold start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9768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Auto-playing intro reel · 4 cinematic stages · ~18 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54203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25420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in 繁中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97680" y="254203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「解釋 TCP 三次握手」→ streaming response with 思考中 indicator.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25526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325526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Switch to Code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97680" y="3255264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「Write a Python TCP echo server」→ syntax-highlighted, copy button.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96849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63040" y="396849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a slide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97680" y="396849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page → vision model extracts the diagram and explains it.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68172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63040" y="468172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a quiz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297680" y="468172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Lecture-2 quiz · instant grade · view explanation.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3949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463040" y="5394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Speak it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297680" y="5394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 🔊 — Cantonese voice, English terms in en-US. One sentence, two voices.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11821"/>
          </a:solidFill>
          <a:ln w="12700">
            <a:solidFill>
              <a:srgbClr val="1118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005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05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" y="91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LearningPacer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91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ELEC3120 · HKUST · Apr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· RESULTS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signals.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18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2606040" cy="1737360"/>
          </a:xfrm>
          <a:prstGeom prst="roundRect">
            <a:avLst>
              <a:gd name="adj" fmla="val 7368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945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800 ms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85800" y="3063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time-to-first-token (p50)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2011680"/>
            <a:ext cx="2606040" cy="1737360"/>
          </a:xfrm>
          <a:prstGeom prst="roundRect">
            <a:avLst>
              <a:gd name="adj" fmla="val 7368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1945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 ¢0.3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520440" y="3063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per tutor reply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011680"/>
            <a:ext cx="2606040" cy="1737360"/>
          </a:xfrm>
          <a:prstGeom prst="roundRect">
            <a:avLst>
              <a:gd name="adj" fmla="val 7368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1945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55080" y="3063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rated "useful" in pilot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0" y="2011680"/>
            <a:ext cx="2606040" cy="1737360"/>
          </a:xfrm>
          <a:prstGeom prst="roundRect">
            <a:avLst>
              <a:gd name="adj" fmla="val 7368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0" y="21945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189720" y="3063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 incidents in 14 days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389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caveat: n = 4 friends. We are seeking IRB approval for a 30-student trial in May.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Honest limitations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544068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No formal evaluation against a TA baseline yet.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No guarantee answers are 100 % consistent with the lecturer's preferred phrasing.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English / 繁中 only — no support for written 簡中 or other languages.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11821"/>
          </a:solidFill>
          <a:ln w="12700">
            <a:solidFill>
              <a:srgbClr val="1118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005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05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" y="91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LearningPacer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91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ELEC3120 · HKUST · Apr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· WHAT'S NEXT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18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3611880" cy="502920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2024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2026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3611880" cy="3291840"/>
          </a:xfrm>
          <a:prstGeom prst="roundRect">
            <a:avLst>
              <a:gd name="adj" fmla="val 3333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74320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67004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Replit Auth + per-student history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65760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58444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IRB-approved pilot (n = 30)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457200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49884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TA-reviewed answer dataset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89120" y="1920240"/>
            <a:ext cx="3611880" cy="502920"/>
          </a:xfrm>
          <a:prstGeom prst="roundRect">
            <a:avLst>
              <a:gd name="adj" fmla="val 18182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192024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 – Jul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89120" y="2514600"/>
            <a:ext cx="3611880" cy="3291840"/>
          </a:xfrm>
          <a:prstGeom prst="roundRect">
            <a:avLst>
              <a:gd name="adj" fmla="val 3333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274320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67004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Multimodal whiteboard input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365760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58444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Past-paper mode (timed)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17720" y="457200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449884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Lecturer dashboard for FAQ patterns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0" y="1920240"/>
            <a:ext cx="3611880" cy="502920"/>
          </a:xfrm>
          <a:prstGeom prst="roundRect">
            <a:avLst>
              <a:gd name="adj" fmla="val 1818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192024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 2026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29600" y="2514600"/>
            <a:ext cx="3611880" cy="3291840"/>
          </a:xfrm>
          <a:prstGeom prst="roundRect">
            <a:avLst>
              <a:gd name="adj" fmla="val 3333"/>
            </a:avLst>
          </a:prstGeom>
          <a:solidFill>
            <a:srgbClr val="161F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58200" y="2743200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32520" y="267004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Roll-out to ELEC3120 Fall cohort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458200" y="3657600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32520" y="358444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Canvas LTI integration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458200" y="4572000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32520" y="449884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Open-source the RAG pipeline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11821"/>
          </a:solidFill>
          <a:ln w="12700">
            <a:solidFill>
              <a:srgbClr val="1118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005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05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" y="91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LearningPacer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91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ELEC3120 · HKUST · Apr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· YOUR TURN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 it now.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the URL on your phone. Ask a question in any mix of 繁中 and English.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11064240" cy="1371600"/>
          </a:xfrm>
          <a:prstGeom prst="roundRect">
            <a:avLst>
              <a:gd name="adj" fmla="val 10667"/>
            </a:avLst>
          </a:prstGeom>
          <a:solidFill>
            <a:srgbClr val="161F2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5760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learningpacer.replit.app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48640" y="53035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prompts to try: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57150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›  「用繁中解釋 BGP path attribute」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00760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›  「Compare TCP Reno vs CUBIC congestion control」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300216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›  「Quiz me on Lecture 10 — IP addressing」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11821"/>
          </a:solidFill>
          <a:ln w="12700">
            <a:solidFill>
              <a:srgbClr val="1118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005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05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" y="91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LearningPacer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91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ELEC3120 · HKUST · Apr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· Q &amp; 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/ 18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We've prepared answers to the questions you're probably about to ask.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2011680" cy="59436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432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Pedagogy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274320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this replace TAs?  ·  How do you measure learning outcomes?  ·  Cheating risk?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2011680" cy="59436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204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352044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Qwen?  ·  How is RAG ranked?  ·  Latency &amp; cost per call?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2011680" cy="59436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976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0" y="429768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do students log in?  ·  Lecture refresh per semester?  ·  Canvas integration?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2011680" cy="59436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074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0" y="507492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is data stored?  ·  Privacy policy?  ·  Hallucination handling?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prepared Q&amp;A document is included in the appendix.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1828800"/>
            <a:ext cx="8229600" cy="822960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657600"/>
            <a:ext cx="8229600" cy="82296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377440"/>
            <a:ext cx="121889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spc="-200" kern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you.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0" y="39319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LearningPacer · ELEC3120 · HKUST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5720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with care for the students of Hong Kong.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learningpacer.replit.app  ·  github.com/learningpacer  ·  team@learningpacer.app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HKUST ELEC3120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LearningPacer — Your AI Tutor for ELEC3120</dc:title>
  <dc:subject>PptxGenJS Presentation</dc:subject>
  <dc:creator>LearningPacer Team</dc:creator>
  <cp:lastModifiedBy>LearningPacer Team</cp:lastModifiedBy>
  <cp:revision>1</cp:revision>
  <dcterms:created xsi:type="dcterms:W3CDTF">2026-04-22T16:26:24Z</dcterms:created>
  <dcterms:modified xsi:type="dcterms:W3CDTF">2026-04-22T16:26:24Z</dcterms:modified>
</cp:coreProperties>
</file>